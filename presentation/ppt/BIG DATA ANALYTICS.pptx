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71" r:id="rId5"/>
    <p:sldId id="260" r:id="rId6"/>
    <p:sldId id="264" r:id="rId7"/>
    <p:sldId id="261" r:id="rId8"/>
    <p:sldId id="272" r:id="rId9"/>
    <p:sldId id="270" r:id="rId10"/>
    <p:sldId id="263" r:id="rId11"/>
    <p:sldId id="266" r:id="rId12"/>
    <p:sldId id="267" r:id="rId13"/>
    <p:sldId id="268" r:id="rId14"/>
    <p:sldId id="269" r:id="rId15"/>
    <p:sldId id="262" r:id="rId1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9EE5045-8179-4CA7-935D-9EA1B79ADD83}">
  <a:tblStyle styleId="{F9EE5045-8179-4CA7-935D-9EA1B79ADD8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100C40F6-6E0B-1E47-B6C3-BCE05862C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>
            <a:extLst>
              <a:ext uri="{FF2B5EF4-FFF2-40B4-BE49-F238E27FC236}">
                <a16:creationId xmlns:a16="http://schemas.microsoft.com/office/drawing/2014/main" id="{67B329B1-D189-AEBE-0A6D-0BBAFEC33D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965E3C8F-BC0F-2581-9AB9-4B8B5EE172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93651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60AE72B8-5773-D2E1-E411-5F0873FDA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E9F123B5-884B-23A7-C18F-B4E6975B33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5:notes">
            <a:extLst>
              <a:ext uri="{FF2B5EF4-FFF2-40B4-BE49-F238E27FC236}">
                <a16:creationId xmlns:a16="http://schemas.microsoft.com/office/drawing/2014/main" id="{C7961F09-F8B6-0D7F-BC80-C5D8E93774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7592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9865C258-673A-806E-9F5F-0F85A49D3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>
            <a:extLst>
              <a:ext uri="{FF2B5EF4-FFF2-40B4-BE49-F238E27FC236}">
                <a16:creationId xmlns:a16="http://schemas.microsoft.com/office/drawing/2014/main" id="{7024362F-97B5-0258-03A1-AC68EBF991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:notes">
            <a:extLst>
              <a:ext uri="{FF2B5EF4-FFF2-40B4-BE49-F238E27FC236}">
                <a16:creationId xmlns:a16="http://schemas.microsoft.com/office/drawing/2014/main" id="{F0D5E099-92B1-3BE1-43BC-C669FD1094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45293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39B50A48-7F2A-998D-756A-3555EB0D7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>
            <a:extLst>
              <a:ext uri="{FF2B5EF4-FFF2-40B4-BE49-F238E27FC236}">
                <a16:creationId xmlns:a16="http://schemas.microsoft.com/office/drawing/2014/main" id="{8E6750EE-3C4F-94C3-1922-11F9F83639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:notes">
            <a:extLst>
              <a:ext uri="{FF2B5EF4-FFF2-40B4-BE49-F238E27FC236}">
                <a16:creationId xmlns:a16="http://schemas.microsoft.com/office/drawing/2014/main" id="{88906F09-2C9A-1298-BE37-6C1561DFF0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21177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E8325510-7CF6-B397-00F5-B470155AD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>
            <a:extLst>
              <a:ext uri="{FF2B5EF4-FFF2-40B4-BE49-F238E27FC236}">
                <a16:creationId xmlns:a16="http://schemas.microsoft.com/office/drawing/2014/main" id="{18544BFB-9231-70D1-E224-0E41A3FAFE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:notes">
            <a:extLst>
              <a:ext uri="{FF2B5EF4-FFF2-40B4-BE49-F238E27FC236}">
                <a16:creationId xmlns:a16="http://schemas.microsoft.com/office/drawing/2014/main" id="{68CBFB82-B171-DC29-00C7-CE00A7C806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9452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515E4E01-46EF-8589-174D-9E243CB27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>
            <a:extLst>
              <a:ext uri="{FF2B5EF4-FFF2-40B4-BE49-F238E27FC236}">
                <a16:creationId xmlns:a16="http://schemas.microsoft.com/office/drawing/2014/main" id="{C86525DB-8682-5FBB-F33B-688952DB90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:notes">
            <a:extLst>
              <a:ext uri="{FF2B5EF4-FFF2-40B4-BE49-F238E27FC236}">
                <a16:creationId xmlns:a16="http://schemas.microsoft.com/office/drawing/2014/main" id="{C7E62AD2-1D93-E273-17F4-4271A0973D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84890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F2D168E9-F30F-B8C5-0872-0865F1752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>
            <a:extLst>
              <a:ext uri="{FF2B5EF4-FFF2-40B4-BE49-F238E27FC236}">
                <a16:creationId xmlns:a16="http://schemas.microsoft.com/office/drawing/2014/main" id="{8F76842D-87DF-4DE4-FE7F-FD7CA248BE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:notes">
            <a:extLst>
              <a:ext uri="{FF2B5EF4-FFF2-40B4-BE49-F238E27FC236}">
                <a16:creationId xmlns:a16="http://schemas.microsoft.com/office/drawing/2014/main" id="{E3F796AC-8F5C-066C-E6B4-075E701A51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45146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2E66C154-C829-3E66-44D5-496115764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>
            <a:extLst>
              <a:ext uri="{FF2B5EF4-FFF2-40B4-BE49-F238E27FC236}">
                <a16:creationId xmlns:a16="http://schemas.microsoft.com/office/drawing/2014/main" id="{D31A9C4D-90F7-161B-D11D-CDBFA452CD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:notes">
            <a:extLst>
              <a:ext uri="{FF2B5EF4-FFF2-40B4-BE49-F238E27FC236}">
                <a16:creationId xmlns:a16="http://schemas.microsoft.com/office/drawing/2014/main" id="{A4191104-3B95-A88F-9996-0956B8197F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4390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9E7127EE-D6DB-3D7B-6DDA-C054D3C91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>
            <a:extLst>
              <a:ext uri="{FF2B5EF4-FFF2-40B4-BE49-F238E27FC236}">
                <a16:creationId xmlns:a16="http://schemas.microsoft.com/office/drawing/2014/main" id="{9020A163-1D14-1757-C044-E492EAE7B8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:notes">
            <a:extLst>
              <a:ext uri="{FF2B5EF4-FFF2-40B4-BE49-F238E27FC236}">
                <a16:creationId xmlns:a16="http://schemas.microsoft.com/office/drawing/2014/main" id="{98282DE1-2167-9D49-AB8E-A0A5A7DC52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52889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/>
          <p:nvPr/>
        </p:nvSpPr>
        <p:spPr>
          <a:xfrm>
            <a:off x="416052" y="5080337"/>
            <a:ext cx="68580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lang="en-US" sz="3000" b="1" i="0" u="none" strike="noStrike" cap="none" dirty="0">
                <a:solidFill>
                  <a:schemeClr val="dk1"/>
                </a:solidFill>
                <a:effectLst>
                  <a:reflection blurRad="12700" stA="28000" endPos="45000" dist="1000" dir="5400000" sy="-100000" algn="bl" rotWithShape="0"/>
                </a:effectLst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DATE: </a:t>
            </a:r>
            <a:endParaRPr dirty="0"/>
          </a:p>
        </p:txBody>
      </p:sp>
      <p:sp>
        <p:nvSpPr>
          <p:cNvPr id="6" name="Google Shape;84;p13"/>
          <p:cNvSpPr txBox="1">
            <a:spLocks/>
          </p:cNvSpPr>
          <p:nvPr/>
        </p:nvSpPr>
        <p:spPr>
          <a:xfrm>
            <a:off x="457200" y="2517606"/>
            <a:ext cx="82296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  <a:buClr>
                <a:srgbClr val="FF0000"/>
              </a:buClr>
              <a:buSzPts val="4000"/>
              <a:buFont typeface="Arial"/>
              <a:buNone/>
            </a:pPr>
            <a:r>
              <a:rPr lang="en-US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CSC1365 BIG DATA ANALYTICS (PRBL) </a:t>
            </a:r>
          </a:p>
          <a:p>
            <a:pPr marL="0" indent="0" algn="ctr">
              <a:spcBef>
                <a:spcPts val="0"/>
              </a:spcBef>
              <a:buClr>
                <a:srgbClr val="FF0000"/>
              </a:buClr>
              <a:buSzPts val="4000"/>
              <a:buFont typeface="Arial"/>
              <a:buNone/>
            </a:pPr>
            <a:r>
              <a:rPr lang="en-US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</a:t>
            </a:r>
          </a:p>
        </p:txBody>
      </p:sp>
      <p:sp>
        <p:nvSpPr>
          <p:cNvPr id="7" name="Google Shape;85;p13"/>
          <p:cNvSpPr/>
          <p:nvPr/>
        </p:nvSpPr>
        <p:spPr>
          <a:xfrm>
            <a:off x="0" y="2062083"/>
            <a:ext cx="9144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2300"/>
              <a:buFont typeface="Times New Roman"/>
              <a:buNone/>
            </a:pPr>
            <a:r>
              <a:rPr lang="en-US" sz="2300" b="1" i="0" u="none" strike="noStrike" cap="none" dirty="0">
                <a:solidFill>
                  <a:srgbClr val="0F243E"/>
                </a:solidFill>
                <a:effectLst>
                  <a:reflection blurRad="12700" stA="28000" endPos="45000" dist="1000" dir="5400000" sy="-100000" algn="bl" rotWithShape="0"/>
                </a:effectLst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dirty="0"/>
          </a:p>
        </p:txBody>
      </p:sp>
      <p:sp>
        <p:nvSpPr>
          <p:cNvPr id="8" name="Google Shape;86;p13"/>
          <p:cNvSpPr txBox="1"/>
          <p:nvPr/>
        </p:nvSpPr>
        <p:spPr>
          <a:xfrm>
            <a:off x="0" y="-184150"/>
            <a:ext cx="184200" cy="3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8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1600" y="123825"/>
            <a:ext cx="6400802" cy="185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13"/>
          <p:cNvSpPr txBox="1"/>
          <p:nvPr/>
        </p:nvSpPr>
        <p:spPr>
          <a:xfrm>
            <a:off x="342900" y="3798972"/>
            <a:ext cx="84582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Times New Roman"/>
              <a:buNone/>
            </a:pPr>
            <a:r>
              <a:rPr lang="en-US" sz="2400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                                     SUPERVISOR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Times New Roman"/>
              <a:buNone/>
            </a:pPr>
            <a:r>
              <a:rPr lang="en-US" sz="2400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K. KRISHKANTH                         Mrs. R. INDRA DEVI, M.E.,                      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Times New Roman"/>
              <a:buNone/>
            </a:pPr>
            <a:r>
              <a:rPr lang="en-US" sz="2400" b="0" i="0" u="none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CSA2351                                     ASSISTANT PROFESSOR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Times New Roman"/>
              <a:buNone/>
            </a:pPr>
            <a:r>
              <a:rPr lang="en-US" sz="2400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8115U23CS051                                                  CSE</a:t>
            </a:r>
            <a:endParaRPr lang="en-IN" sz="2400" b="0" i="0" u="none" dirty="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126BF2-E799-F8C4-3661-ADCC9C4E4CDA}"/>
              </a:ext>
            </a:extLst>
          </p:cNvPr>
          <p:cNvSpPr txBox="1"/>
          <p:nvPr/>
        </p:nvSpPr>
        <p:spPr>
          <a:xfrm>
            <a:off x="4450817" y="5552829"/>
            <a:ext cx="3746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18/09/2025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ctrTitle"/>
          </p:nvPr>
        </p:nvSpPr>
        <p:spPr>
          <a:xfrm>
            <a:off x="609600" y="2539180"/>
            <a:ext cx="79248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0070C0"/>
              </a:buClr>
              <a:buSzPts val="3600"/>
            </a:pPr>
            <a:r>
              <a:rPr lang="en-US" sz="400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Twitter sentiment analysis using Apache Hadoop and Spark</a:t>
            </a:r>
            <a:endParaRPr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body" idx="1"/>
          </p:nvPr>
        </p:nvSpPr>
        <p:spPr>
          <a:xfrm>
            <a:off x="457200" y="1256071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Twitter provides a vast source of real-time public opinions and trends.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analysis of this massive and fast data is impractical.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automates tweet collection and performs sentiment analysis using Hadoop and Spark.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understand public sentiment and emerging topics efficiently.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BB361082-3A8F-F747-424B-0584A661B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C941DEBD-A870-A2D9-7493-F3DE7343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dirty="0"/>
          </a:p>
        </p:txBody>
      </p:sp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1ED32D11-6BB1-79E2-514C-97B18F14E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56071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store live and historical Twitter data in Hadoop HDFS.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and clean data using Apache Spark for scalable analysis.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sentiment classification on tweets (positive, negative, neutral).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sentiment trends and provide actionable insights through dashboards.</a:t>
            </a:r>
          </a:p>
        </p:txBody>
      </p:sp>
    </p:spTree>
    <p:extLst>
      <p:ext uri="{BB962C8B-B14F-4D97-AF65-F5344CB8AC3E}">
        <p14:creationId xmlns:p14="http://schemas.microsoft.com/office/powerpoint/2010/main" val="1069820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Identification</a:t>
            </a:r>
            <a:endParaRPr dirty="0"/>
          </a:p>
        </p:txBody>
      </p:sp>
      <p:sp>
        <p:nvSpPr>
          <p:cNvPr id="112" name="Google Shape;112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Massive volume and velocity of tweets make manual analysis impossible.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meaningful sentiment insights requires scalable tools.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Tweets are often informal with slang and emojis, complicating analysis.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an automated, big data solution to process and analyze Twitter streams.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>
          <a:extLst>
            <a:ext uri="{FF2B5EF4-FFF2-40B4-BE49-F238E27FC236}">
              <a16:creationId xmlns:a16="http://schemas.microsoft.com/office/drawing/2014/main" id="{200E8E2E-6CEB-AC8D-9EC0-68C0B155C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6927CCCC-363F-A0A6-0538-6287B650BE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b="1" dirty="0">
                <a:latin typeface="Times New Roman"/>
                <a:cs typeface="Times New Roman"/>
                <a:sym typeface="Times New Roman"/>
              </a:rPr>
              <a:t>Problem Analysis</a:t>
            </a:r>
            <a:endParaRPr dirty="0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62117987-1DF2-352C-31FA-6366C089E4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Twitter API provides access, but large-scale ingestion needs robust storage (HDFS).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Tweets require cleaning and structuring before sentiment evaluation.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processing (using Spark) is essential for handling big data.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tools must handle informal text specific to social media.</a:t>
            </a:r>
          </a:p>
        </p:txBody>
      </p:sp>
    </p:spTree>
    <p:extLst>
      <p:ext uri="{BB962C8B-B14F-4D97-AF65-F5344CB8AC3E}">
        <p14:creationId xmlns:p14="http://schemas.microsoft.com/office/powerpoint/2010/main" val="599297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b="1" dirty="0">
                <a:latin typeface="Times New Roman"/>
                <a:cs typeface="Times New Roman"/>
                <a:sym typeface="Times New Roman"/>
              </a:rPr>
              <a:t>Project Flow Diagram (Design)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F3D8D7-59D2-7FFC-9957-9EC6A09AF8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783" b="9491"/>
          <a:stretch>
            <a:fillRect/>
          </a:stretch>
        </p:blipFill>
        <p:spPr>
          <a:xfrm>
            <a:off x="1043646" y="1371600"/>
            <a:ext cx="7056708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C860C766-44A0-9267-3033-FE21DC8CA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>
            <a:extLst>
              <a:ext uri="{FF2B5EF4-FFF2-40B4-BE49-F238E27FC236}">
                <a16:creationId xmlns:a16="http://schemas.microsoft.com/office/drawing/2014/main" id="{0802F3E7-6D3C-166B-5FD4-E0477EE974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b="1" dirty="0">
                <a:latin typeface="Times New Roman"/>
                <a:cs typeface="Times New Roman"/>
                <a:sym typeface="Times New Roman"/>
              </a:rPr>
              <a:t>Architecture Diagram (Design)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5D412C-E729-2C76-80A5-82CBC89112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" t="28734" r="3326" b="19451"/>
          <a:stretch>
            <a:fillRect/>
          </a:stretch>
        </p:blipFill>
        <p:spPr>
          <a:xfrm>
            <a:off x="254643" y="1522071"/>
            <a:ext cx="8641948" cy="463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539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7E2910EB-A0BC-CEFF-C26C-4A71BFBE5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>
            <a:extLst>
              <a:ext uri="{FF2B5EF4-FFF2-40B4-BE49-F238E27FC236}">
                <a16:creationId xmlns:a16="http://schemas.microsoft.com/office/drawing/2014/main" id="{241EBC36-AE4D-8DF8-A369-B15ADAB0F3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b="1" dirty="0">
                <a:latin typeface="Times New Roman"/>
                <a:cs typeface="Times New Roman"/>
                <a:sym typeface="Times New Roman"/>
              </a:rPr>
              <a:t>Module Design</a:t>
            </a:r>
            <a:endParaRPr lang="en-US" dirty="0"/>
          </a:p>
        </p:txBody>
      </p:sp>
      <p:sp>
        <p:nvSpPr>
          <p:cNvPr id="118" name="Google Shape;118;p18">
            <a:extLst>
              <a:ext uri="{FF2B5EF4-FFF2-40B4-BE49-F238E27FC236}">
                <a16:creationId xmlns:a16="http://schemas.microsoft.com/office/drawing/2014/main" id="{9438822F-3C97-65C1-6F4E-CFD305084D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803400"/>
            <a:ext cx="8229600" cy="3741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Twitter Data Ingestion (Python + API)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(HDFS)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with Spark &amp; Python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( Spark with VADER)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Visualization/Reporting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4731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F466A0A4-13E8-DB86-28D9-41AB56A41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>
            <a:extLst>
              <a:ext uri="{FF2B5EF4-FFF2-40B4-BE49-F238E27FC236}">
                <a16:creationId xmlns:a16="http://schemas.microsoft.com/office/drawing/2014/main" id="{6F94281B-FFFE-4C15-2EB9-05E49948A3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16408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Twitter Data Ingestion (Python + API)</a:t>
            </a:r>
          </a:p>
        </p:txBody>
      </p:sp>
      <p:sp>
        <p:nvSpPr>
          <p:cNvPr id="118" name="Google Shape;118;p18">
            <a:extLst>
              <a:ext uri="{FF2B5EF4-FFF2-40B4-BE49-F238E27FC236}">
                <a16:creationId xmlns:a16="http://schemas.microsoft.com/office/drawing/2014/main" id="{CA46D387-B2F7-F54D-DE81-6046EA504F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462024"/>
            <a:ext cx="8229600" cy="50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Python scripts with Twitter’s official API to collect tweets.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Authenticates with user API keys and searches by keywords/hashtags.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Fetches tweets at set intervals or via streaming endpoints, storing results locally.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batch or schedule collection scripts, providing control over data acquisition.</a:t>
            </a:r>
          </a:p>
        </p:txBody>
      </p:sp>
    </p:spTree>
    <p:extLst>
      <p:ext uri="{BB962C8B-B14F-4D97-AF65-F5344CB8AC3E}">
        <p14:creationId xmlns:p14="http://schemas.microsoft.com/office/powerpoint/2010/main" val="3247293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F6919AC3-E2C8-C5F3-CC78-BBE75E874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>
            <a:extLst>
              <a:ext uri="{FF2B5EF4-FFF2-40B4-BE49-F238E27FC236}">
                <a16:creationId xmlns:a16="http://schemas.microsoft.com/office/drawing/2014/main" id="{209E225E-B7BB-3C0F-9C10-3CD1DFC367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(HDFS)</a:t>
            </a:r>
          </a:p>
        </p:txBody>
      </p:sp>
      <p:sp>
        <p:nvSpPr>
          <p:cNvPr id="118" name="Google Shape;118;p18">
            <a:extLst>
              <a:ext uri="{FF2B5EF4-FFF2-40B4-BE49-F238E27FC236}">
                <a16:creationId xmlns:a16="http://schemas.microsoft.com/office/drawing/2014/main" id="{5F80508D-6FF8-54B0-2E91-8D4287ECD5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50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tweet JSON/text files are uploaded directly to Hadoop HDFS.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data in organized, date-based folders for easy management and querying.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HDFS offers distributed, reliable storage for high tweet volumes.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Prepares tweet data for fast, parallel processing in Spark.</a:t>
            </a:r>
          </a:p>
        </p:txBody>
      </p:sp>
    </p:spTree>
    <p:extLst>
      <p:ext uri="{BB962C8B-B14F-4D97-AF65-F5344CB8AC3E}">
        <p14:creationId xmlns:p14="http://schemas.microsoft.com/office/powerpoint/2010/main" val="695154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1A6B6D72-8067-D389-ABA5-494194BF7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>
            <a:extLst>
              <a:ext uri="{FF2B5EF4-FFF2-40B4-BE49-F238E27FC236}">
                <a16:creationId xmlns:a16="http://schemas.microsoft.com/office/drawing/2014/main" id="{2A397EC2-4075-1146-9110-974CA28915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(Spark + Python)</a:t>
            </a:r>
          </a:p>
        </p:txBody>
      </p:sp>
      <p:sp>
        <p:nvSpPr>
          <p:cNvPr id="118" name="Google Shape;118;p18">
            <a:extLst>
              <a:ext uri="{FF2B5EF4-FFF2-40B4-BE49-F238E27FC236}">
                <a16:creationId xmlns:a16="http://schemas.microsoft.com/office/drawing/2014/main" id="{A719ADB1-5C5F-5C0E-7D9E-9C8989034B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474216"/>
            <a:ext cx="8229600" cy="50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Spark loads tweet files from HDFS into distributed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and cleans tweet text, removing noise and extracting key fields.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PySpark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enable cluster-based, scalable data transformations.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Prepares and structures tweets for downstream sentiment analysis.</a:t>
            </a:r>
          </a:p>
        </p:txBody>
      </p:sp>
    </p:spTree>
    <p:extLst>
      <p:ext uri="{BB962C8B-B14F-4D97-AF65-F5344CB8AC3E}">
        <p14:creationId xmlns:p14="http://schemas.microsoft.com/office/powerpoint/2010/main" val="678868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5467CA2A-0CD8-DAD6-0E7A-E0E02F22F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>
            <a:extLst>
              <a:ext uri="{FF2B5EF4-FFF2-40B4-BE49-F238E27FC236}">
                <a16:creationId xmlns:a16="http://schemas.microsoft.com/office/drawing/2014/main" id="{BD7834D8-19D8-AEED-10B8-E9F814DC03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426720" y="228600"/>
            <a:ext cx="9820656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Spark with VADER)</a:t>
            </a:r>
          </a:p>
        </p:txBody>
      </p:sp>
      <p:sp>
        <p:nvSpPr>
          <p:cNvPr id="118" name="Google Shape;118;p18">
            <a:extLst>
              <a:ext uri="{FF2B5EF4-FFF2-40B4-BE49-F238E27FC236}">
                <a16:creationId xmlns:a16="http://schemas.microsoft.com/office/drawing/2014/main" id="{61174613-3F50-56B3-A852-761D5F76C2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2544" y="1569900"/>
            <a:ext cx="8229600" cy="50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VADER sentiment analysis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PySpark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large batches.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Assigns sentiment labels (positive/negative/neutral) to each tweet.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emojis, slang, and informal language common in tweets.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sentiment output alongside original tweet text for reporting.</a:t>
            </a:r>
          </a:p>
        </p:txBody>
      </p:sp>
    </p:spTree>
    <p:extLst>
      <p:ext uri="{BB962C8B-B14F-4D97-AF65-F5344CB8AC3E}">
        <p14:creationId xmlns:p14="http://schemas.microsoft.com/office/powerpoint/2010/main" val="1459453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5D94105A-1E35-2973-535F-3CEDE238D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>
            <a:extLst>
              <a:ext uri="{FF2B5EF4-FFF2-40B4-BE49-F238E27FC236}">
                <a16:creationId xmlns:a16="http://schemas.microsoft.com/office/drawing/2014/main" id="{8EC5D80C-36E8-37F9-2C6E-A5D6607238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Visualization/Reporting</a:t>
            </a:r>
          </a:p>
        </p:txBody>
      </p:sp>
      <p:sp>
        <p:nvSpPr>
          <p:cNvPr id="118" name="Google Shape;118;p18">
            <a:extLst>
              <a:ext uri="{FF2B5EF4-FFF2-40B4-BE49-F238E27FC236}">
                <a16:creationId xmlns:a16="http://schemas.microsoft.com/office/drawing/2014/main" id="{B58CB4F6-4D88-7A2A-F16F-BAF0384933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474216"/>
            <a:ext cx="8229600" cy="50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Presents sentiment-labeled results for monitoring or exploration.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processed results back into HDFS or as CSV/Parquet files.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summary statistics (e.g., sentiment counts/trends) with Spark SQL or Pandas.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further visualization or dashboards in BI tools or Python libraries.</a:t>
            </a:r>
          </a:p>
        </p:txBody>
      </p:sp>
    </p:spTree>
    <p:extLst>
      <p:ext uri="{BB962C8B-B14F-4D97-AF65-F5344CB8AC3E}">
        <p14:creationId xmlns:p14="http://schemas.microsoft.com/office/powerpoint/2010/main" val="22767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E70B1D-7024-355D-346A-8560BAEC1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556</Words>
  <Application>Microsoft Office PowerPoint</Application>
  <PresentationFormat>On-screen Show (4:3)</PresentationFormat>
  <Paragraphs>63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Times New Roman</vt:lpstr>
      <vt:lpstr>Wingdings</vt:lpstr>
      <vt:lpstr>Office Theme</vt:lpstr>
      <vt:lpstr>PowerPoint Presentation</vt:lpstr>
      <vt:lpstr>Twitter sentiment analysis using Apache Hadoop and Spark</vt:lpstr>
      <vt:lpstr>Introduction</vt:lpstr>
      <vt:lpstr>Objective</vt:lpstr>
      <vt:lpstr>Problem Identification</vt:lpstr>
      <vt:lpstr>Problem Analysis</vt:lpstr>
      <vt:lpstr>Project Flow Diagram (Design)</vt:lpstr>
      <vt:lpstr>Architecture Diagram (Design)</vt:lpstr>
      <vt:lpstr>Module Design</vt:lpstr>
      <vt:lpstr>Twitter Data Ingestion (Python + API)</vt:lpstr>
      <vt:lpstr>Data Storage (HDFS)</vt:lpstr>
      <vt:lpstr>Data Analysis (Spark + Python)</vt:lpstr>
      <vt:lpstr>Sentiment Analysis  ( Spark with VADER)</vt:lpstr>
      <vt:lpstr>Results Visualization/Reporting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Krish CS</dc:creator>
  <cp:lastModifiedBy>karthik veluswamy</cp:lastModifiedBy>
  <cp:revision>12</cp:revision>
  <dcterms:modified xsi:type="dcterms:W3CDTF">2025-11-03T08:51:26Z</dcterms:modified>
</cp:coreProperties>
</file>